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 algn="l">
              <a:defRPr sz="1200" b="0" i="0" u="none" strike="noStrike">
                <a:solidFill>
                  <a:srgbClr val="001E62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1E62"/>
                </a:solidFill>
                <a:latin typeface="Arial"/>
              </a:rPr>
              <a:t>Students enrolled, by year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Students enrolled</c:v>
                </c:pt>
              </c:strCache>
            </c:strRef>
          </c:tx>
          <c:spPr>
            <a:solidFill>
              <a:srgbClr val="2552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C629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552A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552A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552A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552A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50032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</c:v>
                </c:pt>
                <c:pt idx="1">
                  <c:v>39</c:v>
                </c:pt>
                <c:pt idx="2">
                  <c:v>47</c:v>
                </c:pt>
                <c:pt idx="3">
                  <c:v>58</c:v>
                </c:pt>
                <c:pt idx="4">
                  <c:v>76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4C629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C629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layout. Navy ground, white containment field for the lockup. No red on navy — it measures 2.85:1 and is prohibited by this standard.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layout: numbered rows in navy tints, with the single emphasized item filled in Fire Engine 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divider. Expo White ground so it reads as a pause between white content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Content layout. Text left at 7.3in, pull-figure right. Fire Engine Red appears exactly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Two-column layout with a hairline divider in Navy 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layout. KPI rules follow the chart palette order; the highlighted bar and its KPI are the single red emphasis. Charts always sit on a light ground.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Quote layout. On navy the emphasis colour is Chicago Blue at 6.65:1 — red is never used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Comparison grid. Navy fills carry the EquiMED side; no edge stripes or accent bars anywhere in this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slide in the working file so anyone editing the deck can eyedropper the exact brand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Brazil title. Amarelo Ouro on navy is 11.42:1 — the strongest display pairing in the system. Fire Engine Red never appears on Brazil slides outside the logo.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Brazil content on navy. Verde Bandeira takes the kicker; Amarelo Ouro takes the headline and the figure.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Brazil sub-theme on a light ground — the print-and-handout variant. Verde Profundo carries the unit labels at 5.08:1; Verde Bandeira is used only as a badge fill. Fire Engine Red does not appear. Confirm individual lecturer names with each Fiocruz unit before circulating.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layout mirrors the title slide's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QUIMED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QUIMED_NAVY">
    <p:bg>
      <p:bgPr>
        <a:solidFill>
          <a:srgbClr val="001E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1115568"/>
            <a:ext cx="106737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A6C5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UIC College of Medicine Peoria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664208"/>
            <a:ext cx="9576511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800" b="1" spc="-1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 Innovation</a:t>
            </a:r>
            <a:endParaRPr lang="en-US" sz="48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800" b="1" spc="-1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Medicine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3602736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BFC7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UICOMP program building physicians who can name a structural cause — and then close it.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44988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41B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overview  ·  September 2026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369503" y="5687568"/>
            <a:ext cx="3063240" cy="624723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7" name="Image 0" descr="/home/claude/equimed/assets/web-lo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15807" y="5824728"/>
            <a:ext cx="2770632" cy="35040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274320"/>
            <a:ext cx="106737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D500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658368"/>
            <a:ext cx="10673791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spc="-60" kern="0" dirty="0">
                <a:solidFill>
                  <a:srgbClr val="001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will cover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58952" y="1847088"/>
            <a:ext cx="566928" cy="566928"/>
          </a:xfrm>
          <a:prstGeom prst="ellipse">
            <a:avLst/>
          </a:prstGeom>
          <a:solidFill>
            <a:srgbClr val="E0E4E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58952" y="1865376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6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18488" y="182880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30" kern="0" dirty="0">
                <a:solidFill>
                  <a:srgbClr val="001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gaps are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18488" y="213055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C6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Peoria-area outcome disparities, by census tract and by payer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58952" y="2871216"/>
            <a:ext cx="566928" cy="566928"/>
          </a:xfrm>
          <a:prstGeom prst="ellipse">
            <a:avLst/>
          </a:prstGeom>
          <a:solidFill>
            <a:srgbClr val="E0E4E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58952" y="2889504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6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618488" y="285292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30" kern="0" dirty="0">
                <a:solidFill>
                  <a:srgbClr val="001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EquiMED does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618488" y="3154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C6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Curriculum, community partnership, and the innovation practicum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58952" y="3895344"/>
            <a:ext cx="566928" cy="566928"/>
          </a:xfrm>
          <a:prstGeom prst="ellipse">
            <a:avLst/>
          </a:prstGeom>
          <a:solidFill>
            <a:srgbClr val="D5003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58952" y="391363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618488" y="387705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30" kern="0" dirty="0">
                <a:solidFill>
                  <a:srgbClr val="001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have measured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618488" y="417880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C6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cohorts, twelve partner clinics, and what changed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58952" y="4919472"/>
            <a:ext cx="566928" cy="566928"/>
          </a:xfrm>
          <a:prstGeom prst="ellipse">
            <a:avLst/>
          </a:prstGeom>
          <a:solidFill>
            <a:srgbClr val="E0E4E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58952" y="4937760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6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618488" y="490118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30" kern="0" dirty="0">
                <a:solidFill>
                  <a:srgbClr val="001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need next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618488" y="520293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C6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Funding, faculty effort, and the Brazil exchange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58952" y="6126480"/>
            <a:ext cx="10673791" cy="0"/>
          </a:xfrm>
          <a:prstGeom prst="line">
            <a:avLst/>
          </a:prstGeom>
          <a:noFill/>
          <a:ln w="9525">
            <a:solidFill>
              <a:srgbClr val="E0E4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8952" y="6272784"/>
            <a:ext cx="97593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7383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EquiMED  ·  UIC College of Medicine Peoria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0518343" y="62727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383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58952" y="2487168"/>
            <a:ext cx="106737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500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ONE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2926080"/>
            <a:ext cx="8412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spc="-110" kern="0" dirty="0">
                <a:solidFill>
                  <a:srgbClr val="001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gaps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spc="-110" kern="0" dirty="0">
                <a:solidFill>
                  <a:srgbClr val="001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actually are</a:t>
            </a:r>
            <a:endParaRPr lang="en-US" sz="4000" dirty="0"/>
          </a:p>
        </p:txBody>
      </p:sp>
      <p:pic>
        <p:nvPicPr>
          <p:cNvPr id="5" name="Image 0" descr="/home/claude/equimed/assets/web-lo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5897880"/>
            <a:ext cx="2377440" cy="3006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274320"/>
            <a:ext cx="106737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D500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658368"/>
            <a:ext cx="10673791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spc="-60" kern="0" dirty="0">
                <a:solidFill>
                  <a:srgbClr val="001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commitments that decide everything else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755648"/>
            <a:ext cx="6675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7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4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physicians who can name a structural cause, not only a clinical one</a:t>
            </a:r>
            <a:endParaRPr lang="en-US" sz="1700" dirty="0"/>
          </a:p>
          <a:p>
            <a:pPr marL="342900" indent="-342900">
              <a:lnSpc>
                <a:spcPts val="27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4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interventions with the community rather than for it</a:t>
            </a:r>
            <a:endParaRPr lang="en-US" sz="1700" dirty="0"/>
          </a:p>
          <a:p>
            <a:pPr marL="342900" indent="-342900">
              <a:lnSpc>
                <a:spcPts val="27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4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success by who was previously missed — not by aggregate averages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818120" y="1627632"/>
            <a:ext cx="3611880" cy="2139696"/>
          </a:xfrm>
          <a:prstGeom prst="rect">
            <a:avLst/>
          </a:prstGeom>
          <a:solidFill>
            <a:srgbClr val="F0F2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138160" y="1865376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-200" kern="0" dirty="0">
                <a:solidFill>
                  <a:srgbClr val="D500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3.4x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8138160" y="2761488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C6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rate of avoidable admission in the tracts EquiMED students are placed in, against the county median.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4828032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4C6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commitment is a measurable claim. The rest of this deck is the evidence for the third one.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58952" y="6126480"/>
            <a:ext cx="10673791" cy="0"/>
          </a:xfrm>
          <a:prstGeom prst="line">
            <a:avLst/>
          </a:prstGeom>
          <a:noFill/>
          <a:ln w="9525">
            <a:solidFill>
              <a:srgbClr val="E0E4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6272784"/>
            <a:ext cx="97593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7383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EquiMED  ·  UIC College of Medicine Peoria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518343" y="62727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383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274320"/>
            <a:ext cx="106737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4C6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658368"/>
            <a:ext cx="10673791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spc="-60" kern="0" dirty="0">
                <a:solidFill>
                  <a:srgbClr val="001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practicum runs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75564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-30" kern="0" dirty="0">
                <a:solidFill>
                  <a:srgbClr val="001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Semester one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2231136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4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health needs assessment with a partner clinic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4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competency seminar, eight sessions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4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literacy: reading a tract-level disparity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245352" y="175564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-30" kern="0" dirty="0">
                <a:solidFill>
                  <a:srgbClr val="4C6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Semester two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245352" y="2231136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4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and pilot one intervention with the partner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4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against a pre-registered equity endpoint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4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 to the clinic's own patient advisory board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89320" y="1755648"/>
            <a:ext cx="0" cy="2606040"/>
          </a:xfrm>
          <a:prstGeom prst="line">
            <a:avLst/>
          </a:prstGeom>
          <a:noFill/>
          <a:ln w="12700">
            <a:solidFill>
              <a:srgbClr val="E0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6126480"/>
            <a:ext cx="10673791" cy="0"/>
          </a:xfrm>
          <a:prstGeom prst="line">
            <a:avLst/>
          </a:prstGeom>
          <a:noFill/>
          <a:ln w="9525">
            <a:solidFill>
              <a:srgbClr val="E0E4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6272784"/>
            <a:ext cx="97593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7383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EquiMED  ·  UIC College of Medicine Peoria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518343" y="62727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383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274320"/>
            <a:ext cx="106737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4C6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· COHORTS 2024–26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658368"/>
            <a:ext cx="10673791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spc="-60" kern="0" dirty="0">
                <a:solidFill>
                  <a:srgbClr val="001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and retention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58952" y="1755648"/>
            <a:ext cx="1783080" cy="0"/>
          </a:xfrm>
          <a:prstGeom prst="line">
            <a:avLst/>
          </a:prstGeom>
          <a:noFill/>
          <a:ln w="28575">
            <a:solidFill>
              <a:srgbClr val="001E6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58952" y="1865376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160" kern="0" dirty="0">
                <a:solidFill>
                  <a:srgbClr val="001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248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259689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C6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reached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07792" y="1755648"/>
            <a:ext cx="1783080" cy="0"/>
          </a:xfrm>
          <a:prstGeom prst="line">
            <a:avLst/>
          </a:prstGeom>
          <a:noFill/>
          <a:ln w="28575">
            <a:solidFill>
              <a:srgbClr val="001E6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07792" y="1865376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160" kern="0" dirty="0">
                <a:solidFill>
                  <a:srgbClr val="001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2907792" y="259689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C6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first-generation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56632" y="1755648"/>
            <a:ext cx="1783080" cy="0"/>
          </a:xfrm>
          <a:prstGeom prst="line">
            <a:avLst/>
          </a:prstGeom>
          <a:noFill/>
          <a:ln w="28575">
            <a:solidFill>
              <a:srgbClr val="D5003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56632" y="1865376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160" kern="0" dirty="0">
                <a:solidFill>
                  <a:srgbClr val="D500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5056632" y="259689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C6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clinics</a:t>
            </a:r>
            <a:endParaRPr lang="en-US" sz="11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6675120" y="1517904"/>
          <a:ext cx="47548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758952" y="3310128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4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is steady, but the 2026 step comes almost entirely from the two clinics added in Peoria's 61605 tract — the cohort widened where the disparity was largest, not where recruitment was easiest.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758952" y="5175504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7383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EquiMED program registry, extracted 1 Sep 2026. Counts are enrolled students, not applications.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58952" y="6126480"/>
            <a:ext cx="10673791" cy="0"/>
          </a:xfrm>
          <a:prstGeom prst="line">
            <a:avLst/>
          </a:prstGeom>
          <a:noFill/>
          <a:ln w="9525">
            <a:solidFill>
              <a:srgbClr val="E0E4E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58952" y="6272784"/>
            <a:ext cx="97593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7383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EquiMED  ·  UIC College of Medicine Peoria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0518343" y="62727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383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9224" y="1060704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41B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975104"/>
            <a:ext cx="8778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00"/>
              </a:lnSpc>
              <a:buNone/>
            </a:pPr>
            <a:r>
              <a:rPr lang="en-US" sz="2700" b="1" spc="-7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students stopped asking what was wrong with our patients and started asking what was wrong with the eight blocks around the clinic.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455371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A6C5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director, partner community clinic  ·  Peoria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369503" y="5687568"/>
            <a:ext cx="3063240" cy="624723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6" name="Image 0" descr="/home/claude/equimed/assets/web-lo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15807" y="5824728"/>
            <a:ext cx="2770632" cy="35040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274320"/>
            <a:ext cx="106737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4C6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658368"/>
            <a:ext cx="10673791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spc="-60" kern="0" dirty="0">
                <a:solidFill>
                  <a:srgbClr val="001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 when equity is the endpoint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58952" y="1755648"/>
            <a:ext cx="5193792" cy="1481328"/>
          </a:xfrm>
          <a:prstGeom prst="rect">
            <a:avLst/>
          </a:prstGeom>
          <a:solidFill>
            <a:srgbClr val="F0F2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69848" y="1956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383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CONVENTIONAL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9848" y="2267712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spc="-30" kern="0" dirty="0">
                <a:solidFill>
                  <a:srgbClr val="001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 measured as a population average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27064" y="1755648"/>
            <a:ext cx="5193792" cy="1481328"/>
          </a:xfrm>
          <a:prstGeom prst="rect">
            <a:avLst/>
          </a:prstGeom>
          <a:solidFill>
            <a:srgbClr val="001E6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37960" y="1956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1B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EQUIMED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267712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spc="-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 measured in the worst-served quintile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58952" y="3456432"/>
            <a:ext cx="5193792" cy="1481328"/>
          </a:xfrm>
          <a:prstGeom prst="rect">
            <a:avLst/>
          </a:prstGeom>
          <a:solidFill>
            <a:srgbClr val="F0F2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69848" y="36576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383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CONVENTIONAL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069848" y="3968496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spc="-30" kern="0" dirty="0">
                <a:solidFill>
                  <a:srgbClr val="001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 designed in the academic centre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27064" y="3456432"/>
            <a:ext cx="5193792" cy="1481328"/>
          </a:xfrm>
          <a:prstGeom prst="rect">
            <a:avLst/>
          </a:prstGeom>
          <a:solidFill>
            <a:srgbClr val="001E6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37960" y="36576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1B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EQUIMED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3968496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spc="-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 co-designed with the partner clinic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58952" y="5248656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C6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Neither column is wrong. The difference is which question the endpoint lets you answer.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58952" y="6126480"/>
            <a:ext cx="10673791" cy="0"/>
          </a:xfrm>
          <a:prstGeom prst="line">
            <a:avLst/>
          </a:prstGeom>
          <a:noFill/>
          <a:ln w="9525">
            <a:solidFill>
              <a:srgbClr val="E0E4E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6272784"/>
            <a:ext cx="97593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7383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EquiMED  ·  UIC College of Medicine Peoria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518343" y="62727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383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274320"/>
            <a:ext cx="106737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4C6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— KEEP THIS SLIDE IN THE FILE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658368"/>
            <a:ext cx="10673791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spc="-60" kern="0" dirty="0">
                <a:solidFill>
                  <a:srgbClr val="001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EquiMED palette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7007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7383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542032" y="1664208"/>
            <a:ext cx="1664208" cy="475488"/>
          </a:xfrm>
          <a:prstGeom prst="rect">
            <a:avLst/>
          </a:prstGeom>
          <a:solidFill>
            <a:srgbClr val="001E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633472" y="17373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#001E62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2542032" y="21579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C6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Navy Pier Blue  ·  PMS 2758 C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352544" y="1664208"/>
            <a:ext cx="1664208" cy="475488"/>
          </a:xfrm>
          <a:prstGeom prst="rect">
            <a:avLst/>
          </a:prstGeom>
          <a:solidFill>
            <a:srgbClr val="D500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43984" y="17373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#D50032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352544" y="21579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C6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Engine Red  ·  PMS 199 C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163056" y="1664208"/>
            <a:ext cx="1664208" cy="475488"/>
          </a:xfrm>
          <a:prstGeom prst="rect">
            <a:avLst/>
          </a:prstGeom>
          <a:solidFill>
            <a:srgbClr val="34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54496" y="17373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#343333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6163056" y="21579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C6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Steel Gray  ·  —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973568" y="1664208"/>
            <a:ext cx="1664208" cy="475488"/>
          </a:xfrm>
          <a:prstGeom prst="rect">
            <a:avLst/>
          </a:prstGeom>
          <a:solidFill>
            <a:srgbClr val="F6F3EC"/>
          </a:solidFill>
          <a:ln w="9525">
            <a:solidFill>
              <a:srgbClr val="BFC7D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65008" y="17373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1E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#F6F3EC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7973568" y="21579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C6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 White  ·  PMS 7527 25%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58952" y="2743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7383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NAVY SCALE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42032" y="2706624"/>
            <a:ext cx="1664208" cy="475488"/>
          </a:xfrm>
          <a:prstGeom prst="rect">
            <a:avLst/>
          </a:prstGeom>
          <a:solidFill>
            <a:srgbClr val="2640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633472" y="277977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#26407A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2542032" y="3200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C6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Navy 85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352544" y="2706624"/>
            <a:ext cx="1664208" cy="475488"/>
          </a:xfrm>
          <a:prstGeom prst="rect">
            <a:avLst/>
          </a:prstGeom>
          <a:solidFill>
            <a:srgbClr val="4C62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443984" y="277977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#4C6291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352544" y="3200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C6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Navy 70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163056" y="2706624"/>
            <a:ext cx="1664208" cy="475488"/>
          </a:xfrm>
          <a:prstGeom prst="rect">
            <a:avLst/>
          </a:prstGeom>
          <a:solidFill>
            <a:srgbClr val="7383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54496" y="277977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1E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#7383A9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6163056" y="3200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C6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Navy 55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973568" y="2706624"/>
            <a:ext cx="1664208" cy="475488"/>
          </a:xfrm>
          <a:prstGeom prst="rect">
            <a:avLst/>
          </a:prstGeom>
          <a:solidFill>
            <a:srgbClr val="BFC7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65008" y="277977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1E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#BFC7D8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7973568" y="3200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C6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Navy 25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9784080" y="2706624"/>
            <a:ext cx="1664208" cy="475488"/>
          </a:xfrm>
          <a:prstGeom prst="rect">
            <a:avLst/>
          </a:prstGeom>
          <a:solidFill>
            <a:srgbClr val="E0E4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875520" y="277977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1E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#E0E4EC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9784080" y="3200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C6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Navy 12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758952" y="37856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7383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 ORDER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542032" y="3749040"/>
            <a:ext cx="1664208" cy="475488"/>
          </a:xfrm>
          <a:prstGeom prst="rect">
            <a:avLst/>
          </a:prstGeom>
          <a:solidFill>
            <a:srgbClr val="2552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633472" y="382219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#2552AA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2542032" y="42428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C6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Blue  ·  slot 1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352544" y="3749040"/>
            <a:ext cx="1664208" cy="475488"/>
          </a:xfrm>
          <a:prstGeom prst="rect">
            <a:avLst/>
          </a:prstGeom>
          <a:solidFill>
            <a:srgbClr val="D500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443984" y="382219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#D50032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4352544" y="42428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C6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Engine Red  ·  slot 2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163056" y="3749040"/>
            <a:ext cx="1664208" cy="475488"/>
          </a:xfrm>
          <a:prstGeom prst="rect">
            <a:avLst/>
          </a:prstGeom>
          <a:solidFill>
            <a:srgbClr val="1F8F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254496" y="382219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#1F8FA8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6163056" y="42428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C6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Teal  ·  slot 3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973568" y="3749040"/>
            <a:ext cx="1664208" cy="475488"/>
          </a:xfrm>
          <a:prstGeom prst="rect">
            <a:avLst/>
          </a:prstGeom>
          <a:solidFill>
            <a:srgbClr val="CCB1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065008" y="382219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1E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#CCB100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7973568" y="42428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C6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Gold  ·  slot 4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9784080" y="3749040"/>
            <a:ext cx="1664208" cy="475488"/>
          </a:xfrm>
          <a:prstGeom prst="rect">
            <a:avLst/>
          </a:prstGeom>
          <a:solidFill>
            <a:srgbClr val="00A0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875520" y="382219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#00A071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9784080" y="42428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C6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Green  ·  slot 5</a:t>
            </a:r>
            <a:endParaRPr lang="en-US" sz="800" dirty="0"/>
          </a:p>
        </p:txBody>
      </p:sp>
      <p:sp>
        <p:nvSpPr>
          <p:cNvPr id="49" name="Text 47"/>
          <p:cNvSpPr txBox="1"/>
          <p:nvPr/>
        </p:nvSpPr>
        <p:spPr>
          <a:xfrm>
            <a:off x="758952" y="48280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7383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BRAZIL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542032" y="4791456"/>
            <a:ext cx="1664208" cy="475488"/>
          </a:xfrm>
          <a:prstGeom prst="rect">
            <a:avLst/>
          </a:prstGeom>
          <a:solidFill>
            <a:srgbClr val="0097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2633472" y="486460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#009739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2542032" y="52852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C6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Verde Bandeira  ·  PMS 355 C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352544" y="4791456"/>
            <a:ext cx="1664208" cy="475488"/>
          </a:xfrm>
          <a:prstGeom prst="rect">
            <a:avLst/>
          </a:prstGeom>
          <a:solidFill>
            <a:srgbClr val="FEDD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4443984" y="486460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1E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#FEDD00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4352544" y="52852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C6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Amarelo Ouro  ·  PMS 116 C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163056" y="4791456"/>
            <a:ext cx="1664208" cy="475488"/>
          </a:xfrm>
          <a:prstGeom prst="rect">
            <a:avLst/>
          </a:prstGeom>
          <a:solidFill>
            <a:srgbClr val="0080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254496" y="486460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#008030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6163056" y="52852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C6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Verde Profundo  ·  text on white</a:t>
            </a:r>
            <a:endParaRPr lang="en-US" sz="800" dirty="0"/>
          </a:p>
        </p:txBody>
      </p:sp>
      <p:sp>
        <p:nvSpPr>
          <p:cNvPr id="59" name="Text 57"/>
          <p:cNvSpPr txBox="1"/>
          <p:nvPr/>
        </p:nvSpPr>
        <p:spPr>
          <a:xfrm>
            <a:off x="758952" y="563270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C6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Engine Red never sets body text and never appears on a navy ground (2.85:1). Amarelo Ouro never sets text on white (1.35:1) — on navy it reaches 11.42:1. Chart slots are assigned in order and never cycled; a sixth series folds into “Other”.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758952" y="6126480"/>
            <a:ext cx="10673791" cy="0"/>
          </a:xfrm>
          <a:prstGeom prst="line">
            <a:avLst/>
          </a:prstGeom>
          <a:noFill/>
          <a:ln w="9525">
            <a:solidFill>
              <a:srgbClr val="E0E4EC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758952" y="6272784"/>
            <a:ext cx="97593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7383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EquiMED  ·  UIC College of Medicine Peoria</a:t>
            </a:r>
            <a:endParaRPr 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10518343" y="62727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383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1033272"/>
            <a:ext cx="457200" cy="457200"/>
          </a:xfrm>
          <a:prstGeom prst="rect">
            <a:avLst/>
          </a:prstGeom>
          <a:solidFill>
            <a:srgbClr val="009739"/>
          </a:solidFill>
          <a:ln/>
        </p:spPr>
      </p:sp>
      <p:sp>
        <p:nvSpPr>
          <p:cNvPr id="3" name="Shape 1"/>
          <p:cNvSpPr/>
          <p:nvPr/>
        </p:nvSpPr>
        <p:spPr>
          <a:xfrm>
            <a:off x="841248" y="1115568"/>
            <a:ext cx="292608" cy="292608"/>
          </a:xfrm>
          <a:prstGeom prst="diamond">
            <a:avLst/>
          </a:prstGeom>
          <a:solidFill>
            <a:srgbClr val="FEDD0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417320" y="1115568"/>
            <a:ext cx="97593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FED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EquiMED Brasil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700784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spc="-1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exchange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spc="-1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Rio de Janeiro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39319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BFC7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Dezoito estudantes, três estados, uma pergunta: quem ficou de fora?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468172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80" kern="0" dirty="0">
                <a:solidFill>
                  <a:srgbClr val="0097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Fiocruz collaboration  ·  March 2027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369503" y="5687568"/>
            <a:ext cx="3063240" cy="624723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9" name="Image 0" descr="/home/claude/equimed/assets/web-lo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15807" y="5824728"/>
            <a:ext cx="2770632" cy="35040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274320"/>
            <a:ext cx="106737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0097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COMPROMISSOS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658368"/>
            <a:ext cx="10673791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80" kern="0" dirty="0">
                <a:solidFill>
                  <a:srgbClr val="FED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compromissos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755648"/>
            <a:ext cx="6583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7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0E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Equidade medida por quem foi deixado de fora</a:t>
            </a:r>
            <a:endParaRPr lang="en-US" sz="1700" dirty="0"/>
          </a:p>
          <a:p>
            <a:pPr marL="342900" indent="-342900">
              <a:lnSpc>
                <a:spcPts val="27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0E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Pesquisa conduzida com a comunidade, não sobre ela</a:t>
            </a:r>
            <a:endParaRPr lang="en-US" sz="1700" dirty="0"/>
          </a:p>
          <a:p>
            <a:pPr marL="342900" indent="-342900">
              <a:lnSpc>
                <a:spcPts val="27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0E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médica que atravessa fronteiras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818120" y="1627632"/>
            <a:ext cx="3611880" cy="2139696"/>
          </a:xfrm>
          <a:prstGeom prst="rect">
            <a:avLst/>
          </a:prstGeom>
          <a:solidFill>
            <a:srgbClr val="26407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138160" y="1865376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-200" kern="0" dirty="0">
                <a:solidFill>
                  <a:srgbClr val="FED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8138160" y="276148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FC7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estudantes no intercâmbio de campo, em três estados brasileiros.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48463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i="1" dirty="0">
                <a:solidFill>
                  <a:srgbClr val="A6C5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vermelho da UIC não aparece em nenhum slide desta seção — apenas dentro da marca.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58952" y="6126480"/>
            <a:ext cx="10673791" cy="0"/>
          </a:xfrm>
          <a:prstGeom prst="line">
            <a:avLst/>
          </a:prstGeom>
          <a:noFill/>
          <a:ln w="9525">
            <a:solidFill>
              <a:srgbClr val="26407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6272784"/>
            <a:ext cx="97593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A6C5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EquiMED Brasil  ·  UIC College of Medicine Peoria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518343" y="62727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C5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182880"/>
            <a:ext cx="365760" cy="365760"/>
          </a:xfrm>
          <a:prstGeom prst="rect">
            <a:avLst/>
          </a:prstGeom>
          <a:solidFill>
            <a:srgbClr val="009739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246888"/>
            <a:ext cx="237744" cy="237744"/>
          </a:xfrm>
          <a:prstGeom prst="diamond">
            <a:avLst/>
          </a:prstGeom>
          <a:solidFill>
            <a:srgbClr val="FEDD0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307592" y="256032"/>
            <a:ext cx="97593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08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EQUIMED BRASIL  ·  FIOCRUZ EXCHANGE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676656"/>
            <a:ext cx="10673791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spc="-60" kern="0" dirty="0">
                <a:solidFill>
                  <a:srgbClr val="001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Lecturers — Fundação Oswaldo Cruz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38988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C6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sessions, four Fiocruz units — each pairing a Brazilian methods lecture with a Peoria case the students bring with them.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58952" y="2029968"/>
            <a:ext cx="5193792" cy="1792224"/>
          </a:xfrm>
          <a:prstGeom prst="rect">
            <a:avLst/>
          </a:prstGeom>
          <a:solidFill>
            <a:srgbClr val="F0F2F6"/>
          </a:solidFill>
          <a:ln/>
        </p:spPr>
      </p:sp>
      <p:sp>
        <p:nvSpPr>
          <p:cNvPr id="8" name="Shape 6"/>
          <p:cNvSpPr/>
          <p:nvPr/>
        </p:nvSpPr>
        <p:spPr>
          <a:xfrm>
            <a:off x="1033272" y="2304288"/>
            <a:ext cx="841248" cy="475488"/>
          </a:xfrm>
          <a:prstGeom prst="rect">
            <a:avLst/>
          </a:prstGeom>
          <a:solidFill>
            <a:srgbClr val="00973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33272" y="2331720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ENSP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2057400" y="2267712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spc="-30" kern="0" dirty="0">
                <a:solidFill>
                  <a:srgbClr val="001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determinants and the Brazilian SUS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33272" y="287121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8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Escola Nacional de Saúde Pública Sergio Arouca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033272" y="3099816"/>
            <a:ext cx="4645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C6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universal system still produces unequal outcomes — and how ENSP measures it.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33272" y="3547872"/>
            <a:ext cx="4645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83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+ field visit  ·  2 days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27064" y="2029968"/>
            <a:ext cx="5193792" cy="1792224"/>
          </a:xfrm>
          <a:prstGeom prst="rect">
            <a:avLst/>
          </a:prstGeom>
          <a:solidFill>
            <a:srgbClr val="F0F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6501384" y="2304288"/>
            <a:ext cx="841248" cy="475488"/>
          </a:xfrm>
          <a:prstGeom prst="rect">
            <a:avLst/>
          </a:prstGeom>
          <a:solidFill>
            <a:srgbClr val="00973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01384" y="2331720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IOC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7525512" y="2267712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spc="-30" kern="0" dirty="0">
                <a:solidFill>
                  <a:srgbClr val="001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Arbovirus surveillance in unequal cities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501384" y="287121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8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Instituto Oswaldo Cruz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501384" y="3099816"/>
            <a:ext cx="4645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C6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Dengue, Zika and chikungunya incidence read against sanitation and housing data.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501384" y="3547872"/>
            <a:ext cx="4645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83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Laboratory seminar  ·  1 day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58952" y="3913632"/>
            <a:ext cx="5193792" cy="1792224"/>
          </a:xfrm>
          <a:prstGeom prst="rect">
            <a:avLst/>
          </a:prstGeom>
          <a:solidFill>
            <a:srgbClr val="F0F2F6"/>
          </a:solidFill>
          <a:ln/>
        </p:spPr>
      </p:sp>
      <p:sp>
        <p:nvSpPr>
          <p:cNvPr id="22" name="Shape 20"/>
          <p:cNvSpPr/>
          <p:nvPr/>
        </p:nvSpPr>
        <p:spPr>
          <a:xfrm>
            <a:off x="1033272" y="4187952"/>
            <a:ext cx="841248" cy="475488"/>
          </a:xfrm>
          <a:prstGeom prst="rect">
            <a:avLst/>
          </a:prstGeom>
          <a:solidFill>
            <a:srgbClr val="009739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33272" y="4215384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CIDACS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2057400" y="4151376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spc="-30" kern="0" dirty="0">
                <a:solidFill>
                  <a:srgbClr val="001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 administrative data for equity research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033272" y="47548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8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Centro de Integração de Dados e Conhecimentos para Saúde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033272" y="4983480"/>
            <a:ext cx="4645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C6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100 Million Brazilian Cohort: what record linkage makes visible.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033272" y="5431536"/>
            <a:ext cx="4645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83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Methods workshop  ·  2 days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27064" y="3913632"/>
            <a:ext cx="5193792" cy="1792224"/>
          </a:xfrm>
          <a:prstGeom prst="rect">
            <a:avLst/>
          </a:prstGeom>
          <a:solidFill>
            <a:srgbClr val="F0F2F6"/>
          </a:solidFill>
          <a:ln/>
        </p:spPr>
      </p:sp>
      <p:sp>
        <p:nvSpPr>
          <p:cNvPr id="29" name="Shape 27"/>
          <p:cNvSpPr/>
          <p:nvPr/>
        </p:nvSpPr>
        <p:spPr>
          <a:xfrm>
            <a:off x="6501384" y="4187952"/>
            <a:ext cx="841248" cy="475488"/>
          </a:xfrm>
          <a:prstGeom prst="rect">
            <a:avLst/>
          </a:prstGeom>
          <a:solidFill>
            <a:srgbClr val="009739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501384" y="4215384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ICICT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7525512" y="4151376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spc="-30" kern="0" dirty="0">
                <a:solidFill>
                  <a:srgbClr val="001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information as public infrastructure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501384" y="47548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8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Instituto de Comunicação e Informação Científica e Tecnológica em Saúde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501384" y="4983480"/>
            <a:ext cx="4645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C6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data, indicator design, and who gets counted in national statistics.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501384" y="5431536"/>
            <a:ext cx="4645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83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Seminar + practicum  ·  1 day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758952" y="58155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383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Lecturer names are confirmed with each unit before the roster is published; the units, topics and formats above are agreed.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58952" y="6126480"/>
            <a:ext cx="10673791" cy="0"/>
          </a:xfrm>
          <a:prstGeom prst="line">
            <a:avLst/>
          </a:prstGeom>
          <a:noFill/>
          <a:ln w="9525">
            <a:solidFill>
              <a:srgbClr val="E0E4E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58952" y="6272784"/>
            <a:ext cx="97593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7383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EquiMED Brasil  ·  UIC College of Medicine Peoria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0518343" y="62727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383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20116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31272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1B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EquiMED — Equity Innovation Medicine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38770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7383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2039112" y="385876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FC7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Illinois College of Medicine Peoria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4297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7383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2039112" y="4279392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FC7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peoria.medicine.uic.edu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47183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7383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2039112" y="470001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FC7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equimed@uic.edu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369503" y="5687568"/>
            <a:ext cx="3063240" cy="624723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1" name="Image 0" descr="/home/claude/equimed/assets/web-lo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15807" y="5824728"/>
            <a:ext cx="2770632" cy="35040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University of Illinois College of Medicine Peoria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EquiMED — UICOMP presentation template</dc:title>
  <dc:subject>PptxGenJS Presentation</dc:subject>
  <dc:creator>UICOMP EquiMED</dc:creator>
  <cp:lastModifiedBy>UICOMP EquiMED</cp:lastModifiedBy>
  <cp:revision>1</cp:revision>
  <dcterms:created xsi:type="dcterms:W3CDTF">2026-09-11T11:46:22Z</dcterms:created>
  <dcterms:modified xsi:type="dcterms:W3CDTF">2026-09-11T11:46:22Z</dcterms:modified>
</cp:coreProperties>
</file>